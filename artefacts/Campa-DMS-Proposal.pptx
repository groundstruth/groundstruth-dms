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6692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9AA1AB"/>
                </a:solidFill>
                <a:latin typeface="Calibri"/>
              </a:rPr>
              <a:t>PRIVATE &amp; CONFIDENTIAL  ·  SOFTWARE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17320"/>
            <a:ext cx="7498079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F3F1EE"/>
                </a:solidFill>
                <a:latin typeface="Georgia"/>
              </a:rPr>
              <a:t>Campa Distribution</a:t>
            </a:r>
          </a:p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4600" b="1" i="0">
                <a:solidFill>
                  <a:srgbClr val="E1232B"/>
                </a:solidFill>
                <a:latin typeface="Georgia"/>
              </a:rPr>
              <a:t>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429000"/>
            <a:ext cx="6949440" cy="562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 dirty="0">
                <a:solidFill>
                  <a:srgbClr val="9AA1AB"/>
                </a:solidFill>
                <a:latin typeface="Calibri"/>
              </a:rPr>
              <a:t>Inventory, van sales, GST billing, collections and reporting </a:t>
            </a:r>
            <a:r>
              <a:rPr lang="en-IN" sz="160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600" b="0" i="0" dirty="0">
                <a:solidFill>
                  <a:srgbClr val="9AA1AB"/>
                </a:solidFill>
                <a:latin typeface="Calibri"/>
              </a:rPr>
              <a:t> built on a field-operations platform that </a:t>
            </a:r>
            <a:r>
              <a:rPr sz="1600" b="1" i="0" dirty="0">
                <a:solidFill>
                  <a:srgbClr val="F3F1EE"/>
                </a:solidFill>
                <a:latin typeface="Calibri"/>
              </a:rPr>
              <a:t>already runs in production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246120" cy="3977639"/>
          </a:xfrm>
          <a:prstGeom prst="roundRect">
            <a:avLst>
              <a:gd name="adj" fmla="val 4000"/>
            </a:avLst>
          </a:prstGeom>
          <a:solidFill>
            <a:srgbClr val="1C1F26"/>
          </a:solidFill>
          <a:ln w="15875">
            <a:solidFill>
              <a:srgbClr val="E1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567928" y="1709928"/>
            <a:ext cx="26974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 spc="160">
                <a:solidFill>
                  <a:srgbClr val="E1232B"/>
                </a:solidFill>
                <a:latin typeface="Calibri"/>
              </a:rPr>
              <a:t>ALREADY LIVE IN 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67928" y="22860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0536" y="2276856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3F1EE"/>
                </a:solidFill>
                <a:latin typeface="Calibri"/>
              </a:rPr>
              <a:t>Offline-first field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7928" y="28620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0536" y="2852928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3F1EE"/>
                </a:solidFill>
                <a:latin typeface="Calibri"/>
              </a:rPr>
              <a:t>GPS + route optimisation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67928" y="3438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0536" y="3429000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3F1EE"/>
                </a:solidFill>
                <a:latin typeface="Calibri"/>
              </a:rPr>
              <a:t>Photo proof-of-delivery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67928" y="4014215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0536" y="4005072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3F1EE"/>
                </a:solidFill>
                <a:latin typeface="Calibri"/>
              </a:rPr>
              <a:t>GST billing &amp; e-challan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45902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0536" y="4581144"/>
            <a:ext cx="245059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300" b="0" i="0">
                <a:solidFill>
                  <a:srgbClr val="F3F1EE"/>
                </a:solidFill>
                <a:latin typeface="Calibri"/>
              </a:rPr>
              <a:t>Multi-role security + OTP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053328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3F1EE"/>
                </a:solidFill>
                <a:latin typeface="Calibri"/>
              </a:rPr>
              <a:t>Built for your Campa distribution operation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100" b="0" i="0">
                <a:solidFill>
                  <a:srgbClr val="9AA1AB"/>
                </a:solidFill>
                <a:latin typeface="Calibri"/>
              </a:rPr>
              <a:t>Prepared by Aman Nama and the team behind BookMyMedia.in   · 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YOUR REQUIREMENT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We studied your brief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here is what you 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4023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19" y="221284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40">
                <a:solidFill>
                  <a:srgbClr val="33414F"/>
                </a:solidFill>
                <a:latin typeface="Calibri"/>
              </a:rPr>
              <a:t>WHO WILL USE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19" y="2788920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7" y="269748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0242B"/>
                </a:solidFill>
                <a:latin typeface="Calibri"/>
              </a:rPr>
              <a:t>Distributor Owner / Super Admin  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6B7077"/>
                </a:solidFill>
                <a:latin typeface="Calibri"/>
              </a:rPr>
              <a:t>business, financials, configuration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19" y="3438144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7" y="3346704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0242B"/>
                </a:solidFill>
                <a:latin typeface="Calibri"/>
              </a:rPr>
              <a:t>Warehouse Manager  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6B7077"/>
                </a:solidFill>
                <a:latin typeface="Calibri"/>
              </a:rPr>
              <a:t>stock, dispatch, inward / outward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19" y="4087368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7" y="3995928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0242B"/>
                </a:solidFill>
                <a:latin typeface="Calibri"/>
              </a:rPr>
              <a:t>Sales Rep (field agent)  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>
                <a:solidFill>
                  <a:srgbClr val="6B7077"/>
                </a:solidFill>
                <a:latin typeface="Calibri"/>
              </a:rPr>
              <a:t>orders, beats, retailer catalogue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19" y="4736592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7" y="4645152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0242B"/>
                </a:solidFill>
                <a:latin typeface="Calibri"/>
              </a:rPr>
              <a:t>Van / Delivery Driver  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 dirty="0">
                <a:solidFill>
                  <a:srgbClr val="6B7077"/>
                </a:solidFill>
                <a:latin typeface="Calibri"/>
              </a:rPr>
              <a:t>loading, delivery, payment, proof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19" y="5385816"/>
            <a:ext cx="109728" cy="109728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07007" y="5294376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 dirty="0">
                <a:solidFill>
                  <a:srgbClr val="20242B"/>
                </a:solidFill>
                <a:latin typeface="Calibri"/>
              </a:rPr>
              <a:t>Retailer (optional)  </a:t>
            </a:r>
          </a:p>
          <a:p>
            <a:pPr algn="l">
              <a:spcBef>
                <a:spcPts val="100"/>
              </a:spcBef>
              <a:spcAft>
                <a:spcPts val="0"/>
              </a:spcAft>
            </a:pPr>
            <a:r>
              <a:rPr sz="1100" b="0" i="0" dirty="0">
                <a:solidFill>
                  <a:srgbClr val="6B7077"/>
                </a:solidFill>
                <a:latin typeface="Calibri"/>
              </a:rPr>
              <a:t>self-order + own ledger view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920240"/>
            <a:ext cx="649224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49240" y="2212848"/>
            <a:ext cx="5943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40">
                <a:solidFill>
                  <a:srgbClr val="33414F"/>
                </a:solidFill>
                <a:latin typeface="Calibri"/>
              </a:rPr>
              <a:t>WHAT IT MUST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4924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41848" y="2734056"/>
            <a:ext cx="2724912" cy="370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Warehouse &amp; SKU inventory </a:t>
            </a:r>
            <a:r>
              <a:rPr lang="en-IN" sz="1200" b="0" i="0" dirty="0">
                <a:solidFill>
                  <a:srgbClr val="20242B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20242B"/>
                </a:solidFill>
                <a:latin typeface="Calibri"/>
              </a:rPr>
              <a:t> batch, expiry, FIFO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9240" y="3346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41848" y="333756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Van loading &amp; return-stock reconciliation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41848" y="3941064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Order punching, GST invoicing &amp; delivery challan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45537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41848" y="45445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Beat planning, routing &amp; proof-of-delivery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15721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41848" y="5148072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Payment collection, ledgers &amp; credit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743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05088" y="2734056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Schemes, low-stock &amp; payment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3467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3337560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Retailer onboarding &amp; visit tracking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502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05088" y="3941064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Expense &amp; KM tracking + dashboards / DSR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455371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4544568"/>
            <a:ext cx="27249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Offline-first, secure, cloud-hosted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YOUR DAILY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20242B"/>
                </a:solidFill>
                <a:latin typeface="Georgia"/>
              </a:rPr>
              <a:t>One system for the entire van-sales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77824" y="21854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77824" y="21854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752344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Load van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81528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 dirty="0">
                <a:solidFill>
                  <a:srgbClr val="6B7077"/>
                </a:solidFill>
                <a:latin typeface="Calibri"/>
              </a:rPr>
              <a:t>Stock issued from warehouse on a delivery challan; loading sheet generated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36975" y="2240279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9856" y="1965960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657600" y="21854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21854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52344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Plan beat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081528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Optimised route for the day's retailer visits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2" y="2240279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9632" y="1965960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37376" y="21854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37376" y="21854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2752344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Visit &amp; check-in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3081528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GPS check-in at each outlet, on the mobile 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2240279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9408" y="1965960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217152" y="2185415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17152" y="2185415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17152" y="2752344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Punch order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17152" y="3081528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Order taken on-app; schemes &amp; pricing applied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005072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77824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77824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" y="4791456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Invoice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" y="512064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GST tax invoice at the point of sale, offline-ready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36975" y="42793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19856" y="4005072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3657600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657600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4791456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Collect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512064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Cash / UPI captured; retailer ledger updated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16752" y="42793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99632" y="4005072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37376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37376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4791456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Proof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37376" y="512064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Geo-tagged delivery photo as proof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96528" y="4279392"/>
            <a:ext cx="20116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E1232B"/>
                </a:solidFill>
                <a:latin typeface="Calibri"/>
              </a:rPr>
              <a:t>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979408" y="4005072"/>
            <a:ext cx="2615184" cy="1783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9217152" y="422452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217152" y="42245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7152" y="4791456"/>
            <a:ext cx="215798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Sync &amp; see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7152" y="5120640"/>
            <a:ext cx="2157984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6B7077"/>
                </a:solidFill>
                <a:latin typeface="Calibri"/>
              </a:rPr>
              <a:t>Stock auto-deducts; owner sees it live on the dashboard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SCOPE COVERAGE  ·  1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Every module in your brief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84448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91440" cy="416052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14883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1488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167127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Inventory &amp; Warehouse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" y="3063239"/>
            <a:ext cx="971092" cy="27432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3076956"/>
            <a:ext cx="971092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BUILT FRESH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6393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19" y="354787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Real-time SKU stock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4187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19" y="409651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Batch &amp; expiry (FIFO)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4736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19" y="464515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Low-stock alerts &amp; reorder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" y="52852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88719" y="519379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Damaged goods &amp; returns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874519"/>
            <a:ext cx="3584448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389120" y="1874519"/>
            <a:ext cx="91440" cy="4160520"/>
          </a:xfrm>
          <a:prstGeom prst="rect">
            <a:avLst/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681728" y="214883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81728" y="21488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167127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Order Management (OMS)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0016" y="3063239"/>
            <a:ext cx="596188" cy="27432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0016" y="3076956"/>
            <a:ext cx="5961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HYBRID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04" y="36393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59" y="3547872"/>
            <a:ext cx="2761488" cy="18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Order capture </a:t>
            </a:r>
            <a:r>
              <a:rPr lang="en-IN" sz="1200" b="0" i="0" dirty="0">
                <a:solidFill>
                  <a:srgbClr val="20242B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20242B"/>
                </a:solidFill>
                <a:latin typeface="Calibri"/>
              </a:rPr>
              <a:t> field &amp; retailer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4187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59" y="409651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GST invoice + delivery challan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18304" y="4736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37759" y="464515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Schemes (buy-10-get-1, slabs)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718304" y="52852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59" y="519379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Discounts &amp; price lists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59" y="1874519"/>
            <a:ext cx="3584448" cy="416052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38159" y="1874519"/>
            <a:ext cx="91440" cy="4160520"/>
          </a:xfrm>
          <a:prstGeom prst="rect">
            <a:avLst/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430767" y="2148839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30767" y="2148839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167127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Route &amp; Logistics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49055" y="3063239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49055" y="307695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REUSES LIVE PLATFORM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67343" y="363931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799" y="354787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Beat planning &amp; routing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67343" y="418795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86799" y="409651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Vehicle loading sheets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67343" y="473659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86799" y="464515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Proof-of-delivery (photo)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67343" y="5285231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799" y="5193791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COD / collection tracking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SCOPE COVERAGE  ·  2 OF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Field force, finance, reporting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and the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358444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91440" cy="3200400"/>
          </a:xfrm>
          <a:prstGeom prst="rect">
            <a:avLst/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75688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Sales &amp; Field Force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" y="2971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976" y="29855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REUSES LIVE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9264" y="3547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19" y="34564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Attendance + GPS tracking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4005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19" y="39136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Target vs achievement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" y="44622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19" y="43708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Retailer onboarding &amp; profiles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783080"/>
            <a:ext cx="358444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89120" y="1783080"/>
            <a:ext cx="91440" cy="3200400"/>
          </a:xfrm>
          <a:prstGeom prst="rect">
            <a:avLst/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681728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81728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2075688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Financials &amp; Billing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0016" y="2971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00016" y="29855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REUSES LIVE PLATFORM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18304" y="3547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937759" y="34564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Per-retailer ledger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18304" y="4005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937759" y="39136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Credit limits + alerts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18304" y="44622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937759" y="43708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GST / tax compliance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59" y="1783080"/>
            <a:ext cx="3584448" cy="32004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59" y="1783080"/>
            <a:ext cx="91440" cy="3200400"/>
          </a:xfrm>
          <a:prstGeom prst="rect">
            <a:avLst/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30767" y="205740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30767" y="2057400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Georgia"/>
              </a:rPr>
              <a:t>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2075688"/>
            <a:ext cx="2395728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0242B"/>
                </a:solidFill>
                <a:latin typeface="Georgia"/>
              </a:rPr>
              <a:t>Reporting &amp; Analytics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449055" y="2971800"/>
            <a:ext cx="1645920" cy="27432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49055" y="2985516"/>
            <a:ext cx="1645920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REUSES LIVE PLATFORM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67343" y="3547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799" y="34564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Daily Sales Report (DSR)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67343" y="40050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86799" y="39136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Top SKUs / regions / reps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67343" y="44622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86799" y="4370832"/>
            <a:ext cx="276148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Inventory aging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166360"/>
            <a:ext cx="10899648" cy="914400"/>
          </a:xfrm>
          <a:prstGeom prst="roundRect">
            <a:avLst>
              <a:gd name="adj" fmla="val 4000"/>
            </a:avLst>
          </a:prstGeom>
          <a:solidFill>
            <a:srgbClr val="12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60120" y="53492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60">
                <a:solidFill>
                  <a:srgbClr val="E1232B"/>
                </a:solidFill>
                <a:latin typeface="Calibri"/>
              </a:rPr>
              <a:t>ALL ALREADY BUILT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0120" y="5641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52728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Offline-first + auto-sync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5641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64608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Cloud-hosted + daily backups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80" y="5641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76488" y="563270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RBAC + encryption + OTP login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WHY WE'RE FAST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Two-thirds is already built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and we can prove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7084771" cy="566928"/>
          </a:xfrm>
          <a:prstGeom prst="roundRect">
            <a:avLst>
              <a:gd name="adj" fmla="val 8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24851" y="1874519"/>
            <a:ext cx="3814876" cy="566928"/>
          </a:xfrm>
          <a:prstGeom prst="roundRect">
            <a:avLst>
              <a:gd name="adj" fmla="val 8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874519"/>
            <a:ext cx="6810451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3F1EE"/>
                </a:solidFill>
                <a:latin typeface="Calibri"/>
              </a:rPr>
              <a:t>~65%  foundation already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2011" y="1874519"/>
            <a:ext cx="3586276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~35%  new FMCG logic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40"/>
            <a:ext cx="5394960" cy="3063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3090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30">
                <a:solidFill>
                  <a:srgbClr val="33414F"/>
                </a:solidFill>
                <a:latin typeface="Calibri"/>
              </a:rPr>
              <a:t>RUNNING IN PRODUCTION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4930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25296" y="3483864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Offline-first mobile field app + auto-sync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877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25296" y="3867912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GPS capture, check-ins &amp; route optimisation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261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4251960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Geo-tagged photo proof-of-delivery 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451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25296" y="4636008"/>
            <a:ext cx="4553712" cy="1743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 dirty="0">
                <a:solidFill>
                  <a:srgbClr val="20242B"/>
                </a:solidFill>
                <a:latin typeface="Calibri"/>
              </a:rPr>
              <a:t>GST tax invoices </a:t>
            </a:r>
            <a:r>
              <a:rPr lang="en-IN" sz="1150" b="0" i="0" dirty="0">
                <a:solidFill>
                  <a:srgbClr val="20242B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20242B"/>
                </a:solidFill>
                <a:latin typeface="Calibri"/>
              </a:rPr>
              <a:t> CGST/SGST/IGST, HSN, round-off, Tally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029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25296" y="5020056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WhatsApp / SMS / email / push notifications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5413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5404104"/>
            <a:ext cx="45537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Multi-role security, OTP login, per-tenant isolation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2834640"/>
            <a:ext cx="5394960" cy="3063240"/>
          </a:xfrm>
          <a:prstGeom prst="roundRect">
            <a:avLst>
              <a:gd name="adj" fmla="val 3000"/>
            </a:avLst>
          </a:prstGeom>
          <a:solidFill>
            <a:srgbClr val="12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37376" y="3090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30">
                <a:solidFill>
                  <a:srgbClr val="E1232B"/>
                </a:solidFill>
                <a:latin typeface="Calibri"/>
              </a:rPr>
              <a:t>BUILT FRESH FOR CAMPA DMS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4930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483864"/>
            <a:ext cx="46634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dirty="0">
                <a:solidFill>
                  <a:srgbClr val="F3F1EE"/>
                </a:solidFill>
                <a:latin typeface="Calibri"/>
              </a:rPr>
              <a:t>SKU inventory </a:t>
            </a:r>
            <a:r>
              <a:rPr lang="en-IN" sz="1150" b="0" i="0" dirty="0">
                <a:solidFill>
                  <a:srgbClr val="F3F1EE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F3F1EE"/>
                </a:solidFill>
                <a:latin typeface="Calibri"/>
              </a:rPr>
              <a:t> quantities, batch, expiry, FIFO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7705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386791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Van stock: load → auto-deduct on sale → returns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2611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25196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Order capture + scheme engine (buy-X-get-Y)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464515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463600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Retailer running ledger + credit-limit enforcement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502920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11696" y="5020056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Beat-plan assignment + targets vs achievement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6" y="54132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E1232B"/>
                </a:solidFill>
                <a:latin typeface="Calibri"/>
              </a:rPr>
              <a:t>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11696" y="540410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Delivery challan, damaged-goods / RTV, e-way / IRN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WE SPEAK FMCG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20242B"/>
                </a:solidFill>
                <a:latin typeface="Georgia"/>
              </a:rPr>
              <a:t>The edge cases we've already mapped for beverages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1">
                <a:solidFill>
                  <a:srgbClr val="6B7077"/>
                </a:solidFill>
                <a:latin typeface="Calibri"/>
              </a:rPr>
              <a:t>Beverage distribution has details generic software misses. We've already designed for them: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93392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93392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231136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Delivery challan, then invoice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67004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6B7077"/>
                </a:solidFill>
                <a:latin typeface="Calibri"/>
              </a:rPr>
              <a:t>Van stock moves on a Rule-55 challan; the GST tax invoice is raised at the point of sale, then reconciled at day-end.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993392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89120" y="1993392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2231136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Returnable bottles &amp; crates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670048"/>
            <a:ext cx="3108960" cy="334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 dirty="0">
                <a:solidFill>
                  <a:srgbClr val="6B7077"/>
                </a:solidFill>
                <a:latin typeface="Calibri"/>
              </a:rPr>
              <a:t>Glass-bottle / crate deposits, empties collection and empty-for-full exchange </a:t>
            </a:r>
            <a:r>
              <a:rPr lang="en-IN" sz="103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030" b="0" i="0" dirty="0">
                <a:solidFill>
                  <a:srgbClr val="6B7077"/>
                </a:solidFill>
                <a:latin typeface="Calibri"/>
              </a:rPr>
              <a:t> tracked as a deposit ledger.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59" y="1993392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38159" y="1993392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94191" y="2231136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Breakage &amp; damage in transit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670048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6B7077"/>
                </a:solidFill>
                <a:latin typeface="Calibri"/>
              </a:rPr>
              <a:t>Bottles break. Damage captured with photo + reason at van return; load ≠ sold + returned + damaged is flagged.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67328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767328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400507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40% GST on aerated drinks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443984"/>
            <a:ext cx="3108960" cy="334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 dirty="0">
                <a:solidFill>
                  <a:srgbClr val="6B7077"/>
                </a:solidFill>
                <a:latin typeface="Calibri"/>
              </a:rPr>
              <a:t>Post-Sept-2025, cola SKUs are 40% GST; juices/water are 5%. Rates stored per-HSN </a:t>
            </a:r>
            <a:r>
              <a:rPr lang="en-IN" sz="103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030" b="0" i="0" dirty="0">
                <a:solidFill>
                  <a:srgbClr val="6B7077"/>
                </a:solidFill>
                <a:latin typeface="Calibri"/>
              </a:rPr>
              <a:t> never hardcoded.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67328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3767328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400507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Free-goods schemes &amp; GST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4443984"/>
            <a:ext cx="3108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>
                <a:solidFill>
                  <a:srgbClr val="6B7077"/>
                </a:solidFill>
                <a:latin typeface="Calibri"/>
              </a:rPr>
              <a:t>Buy-10-get-1 deducts stock at zero value with correct GST treatment on the free units.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59" y="3767328"/>
            <a:ext cx="3584448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138159" y="3767328"/>
            <a:ext cx="3584448" cy="6400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94191" y="4005072"/>
            <a:ext cx="312724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 i="0">
                <a:solidFill>
                  <a:srgbClr val="20242B"/>
                </a:solidFill>
                <a:latin typeface="Georgia"/>
              </a:rPr>
              <a:t>Offline conflicts &amp; fraud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1" y="4443984"/>
            <a:ext cx="3108960" cy="334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30" b="0" i="0" dirty="0">
                <a:solidFill>
                  <a:srgbClr val="6B7077"/>
                </a:solidFill>
                <a:latin typeface="Calibri"/>
              </a:rPr>
              <a:t>Same outlet by two reps, no-network check-ins, GPS geo-fencing against fake visits </a:t>
            </a:r>
            <a:r>
              <a:rPr lang="en-IN" sz="103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030" b="0" i="0" dirty="0">
                <a:solidFill>
                  <a:srgbClr val="6B7077"/>
                </a:solidFill>
                <a:latin typeface="Calibri"/>
              </a:rPr>
              <a:t> all handled.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BUILT TO SCALE WITH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You're growing fast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the system keeps 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5029200" cy="4023360"/>
          </a:xfrm>
          <a:prstGeom prst="roundRect">
            <a:avLst>
              <a:gd name="adj" fmla="val 3000"/>
            </a:avLst>
          </a:prstGeom>
          <a:solidFill>
            <a:srgbClr val="12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160">
                <a:solidFill>
                  <a:srgbClr val="E1232B"/>
                </a:solidFill>
                <a:latin typeface="Calibri"/>
              </a:rPr>
              <a:t>YOUR TRAJECTORY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788920"/>
            <a:ext cx="45720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400" b="1" i="0">
                <a:solidFill>
                  <a:srgbClr val="F3F1EE"/>
                </a:solidFill>
                <a:latin typeface="Georgia"/>
              </a:rPr>
              <a:t>2 →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114800"/>
            <a:ext cx="4389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3F1EE"/>
                </a:solidFill>
                <a:latin typeface="Calibri"/>
              </a:rPr>
              <a:t>vans in ~2 months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617720"/>
            <a:ext cx="4389120" cy="4294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 i="0" dirty="0">
                <a:solidFill>
                  <a:srgbClr val="9AA1AB"/>
                </a:solidFill>
                <a:latin typeface="Calibri"/>
              </a:rPr>
              <a:t>Your operation is scaling. Per-seat tools punish that. Ours doesn't </a:t>
            </a:r>
            <a:r>
              <a:rPr lang="en-IN" sz="125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250" b="0" i="0" dirty="0">
                <a:solidFill>
                  <a:srgbClr val="9AA1AB"/>
                </a:solidFill>
                <a:latin typeface="Calibri"/>
              </a:rPr>
              <a:t> add vans, reps, SKUs and outlets without a </a:t>
            </a:r>
            <a:r>
              <a:rPr sz="1250" b="0" i="0" dirty="0" err="1">
                <a:solidFill>
                  <a:srgbClr val="9AA1AB"/>
                </a:solidFill>
                <a:latin typeface="Calibri"/>
              </a:rPr>
              <a:t>licence</a:t>
            </a:r>
            <a:r>
              <a:rPr sz="1250" b="0" i="0" dirty="0">
                <a:solidFill>
                  <a:srgbClr val="9AA1AB"/>
                </a:solidFill>
                <a:latin typeface="Calibri"/>
              </a:rPr>
              <a:t> penalty.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920240"/>
            <a:ext cx="555040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920240"/>
            <a:ext cx="82296" cy="9144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00216" y="2066544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No per-seat penalty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423160"/>
            <a:ext cx="5120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 dirty="0">
                <a:solidFill>
                  <a:srgbClr val="6B7077"/>
                </a:solidFill>
                <a:latin typeface="Calibri"/>
              </a:rPr>
              <a:t>Flat platform </a:t>
            </a:r>
            <a:r>
              <a:rPr lang="en-IN" sz="115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B7077"/>
                </a:solidFill>
                <a:latin typeface="Calibri"/>
              </a:rPr>
              <a:t> add field users freely as you add vans.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2953512"/>
            <a:ext cx="555040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989320" y="2953512"/>
            <a:ext cx="82296" cy="9144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00216" y="3099816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Multi-warehouse 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3456432"/>
            <a:ext cx="5120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 dirty="0">
                <a:solidFill>
                  <a:srgbClr val="6B7077"/>
                </a:solidFill>
                <a:latin typeface="Calibri"/>
              </a:rPr>
              <a:t>One godown today, more tomorrow </a:t>
            </a:r>
            <a:r>
              <a:rPr lang="en-IN" sz="115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B7077"/>
                </a:solidFill>
                <a:latin typeface="Calibri"/>
              </a:rPr>
              <a:t> the model already supports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986783"/>
            <a:ext cx="555040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3986783"/>
            <a:ext cx="82296" cy="9144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0216" y="4133087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IRN e-invoice 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4489703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>
                <a:solidFill>
                  <a:srgbClr val="6B7077"/>
                </a:solidFill>
                <a:latin typeface="Calibri"/>
              </a:rPr>
              <a:t>Cross ₹5 Cr turnover and e-invoicing switches on as a module, not a rebuild.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5020055"/>
            <a:ext cx="5550408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89320" y="5020055"/>
            <a:ext cx="82296" cy="9144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00216" y="5166359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1" i="0">
                <a:solidFill>
                  <a:srgbClr val="20242B"/>
                </a:solidFill>
                <a:latin typeface="Georgia"/>
              </a:rPr>
              <a:t>Your own isolated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0216" y="5522975"/>
            <a:ext cx="512064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150" b="0" i="0" dirty="0">
                <a:solidFill>
                  <a:srgbClr val="6B7077"/>
                </a:solidFill>
                <a:latin typeface="Calibri"/>
              </a:rPr>
              <a:t>A white-labelled instance that's yours </a:t>
            </a:r>
            <a:r>
              <a:rPr lang="en-IN" sz="1150" b="0" i="0" dirty="0">
                <a:solidFill>
                  <a:srgbClr val="6B7077"/>
                </a:solidFill>
                <a:latin typeface="Calibri"/>
              </a:rPr>
              <a:t>-</a:t>
            </a:r>
            <a:r>
              <a:rPr sz="1150" b="0" i="0" dirty="0">
                <a:solidFill>
                  <a:srgbClr val="6B7077"/>
                </a:solidFill>
                <a:latin typeface="Calibri"/>
              </a:rPr>
              <a:t> data never mixes with anyone else's.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MVP first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live in weeks, then build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881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6B7077"/>
                </a:solidFill>
                <a:latin typeface="Calibri"/>
              </a:rPr>
              <a:t>Indicative; confirmed once scope is locked. Each phase is demoed and signed off before the next begins.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584448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965960"/>
            <a:ext cx="3584448" cy="566928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75378"/>
            <a:ext cx="312724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 dirty="0">
                <a:solidFill>
                  <a:srgbClr val="FFFFFF"/>
                </a:solidFill>
                <a:latin typeface="Calibri"/>
              </a:rPr>
              <a:t>PHASE 1   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Weeks </a:t>
            </a:r>
            <a:r>
              <a:rPr lang="en-IN" sz="1100" b="0" i="0" dirty="0">
                <a:solidFill>
                  <a:srgbClr val="FFFFFF"/>
                </a:solidFill>
                <a:latin typeface="Calibri"/>
              </a:rPr>
              <a:t>2-3(+1 testing+ pilot )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2697480"/>
            <a:ext cx="312724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 dirty="0">
                <a:solidFill>
                  <a:srgbClr val="20242B"/>
                </a:solidFill>
                <a:latin typeface="Georgia"/>
              </a:rPr>
              <a:t>MVP </a:t>
            </a:r>
            <a:r>
              <a:rPr lang="en-IN" sz="16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1600" b="1" i="0" dirty="0">
                <a:solidFill>
                  <a:srgbClr val="20242B"/>
                </a:solidFill>
                <a:latin typeface="Georgia"/>
              </a:rPr>
              <a:t> replace Excel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3300984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095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Auth + roles (Owner, Warehouse, Driver, Rep)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36667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SKU master + warehouse inventory (batch/expiry/FIFO)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42153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43000" y="41239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Van load + delivery challan + return reconciliation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46725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581144"/>
            <a:ext cx="2807208" cy="168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Order punch + invoice + auto-deduct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2688" y="51297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50383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Cash/UPI collection + basic dashboard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55869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5495544"/>
            <a:ext cx="2807208" cy="342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Core offline mode</a:t>
            </a:r>
            <a:r>
              <a:rPr lang="en-IN" sz="1100" dirty="0">
                <a:solidFill>
                  <a:srgbClr val="20242B"/>
                </a:solidFill>
                <a:latin typeface="Calibri"/>
              </a:rPr>
              <a:t>, security</a:t>
            </a:r>
            <a:endParaRPr lang="en-IN" sz="1100" b="0" i="0" dirty="0">
              <a:solidFill>
                <a:srgbClr val="20242B"/>
              </a:solidFill>
              <a:latin typeface="Calibri"/>
            </a:endParaRPr>
          </a:p>
          <a:p>
            <a:pPr algn="l">
              <a:lnSpc>
                <a:spcPct val="103000"/>
              </a:lnSpc>
              <a:spcAft>
                <a:spcPts val="0"/>
              </a:spcAft>
            </a:pPr>
            <a:endParaRPr sz="1100" b="0" i="0" dirty="0">
              <a:solidFill>
                <a:srgbClr val="20242B"/>
              </a:solidFill>
              <a:latin typeface="Calibri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389120" y="1965960"/>
            <a:ext cx="3584448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89120" y="1965960"/>
            <a:ext cx="3584448" cy="566928"/>
          </a:xfrm>
          <a:prstGeom prst="rect">
            <a:avLst/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2175378"/>
            <a:ext cx="3127248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 dirty="0">
                <a:solidFill>
                  <a:srgbClr val="FFFFFF"/>
                </a:solidFill>
                <a:latin typeface="Calibri"/>
              </a:rPr>
              <a:t>PHASE 2   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Weeks </a:t>
            </a:r>
            <a:r>
              <a:rPr lang="en-IN" sz="1100" dirty="0">
                <a:solidFill>
                  <a:srgbClr val="FFFFFF"/>
                </a:solidFill>
                <a:latin typeface="Calibri"/>
              </a:rPr>
              <a:t>4</a:t>
            </a:r>
            <a:r>
              <a:rPr lang="en-IN" sz="1100" b="0" i="0" dirty="0">
                <a:solidFill>
                  <a:srgbClr val="FFFFFF"/>
                </a:solidFill>
                <a:latin typeface="Calibri"/>
              </a:rPr>
              <a:t>-6</a:t>
            </a:r>
            <a:endParaRPr sz="1100" b="0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663440" y="2697480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242B"/>
                </a:solidFill>
                <a:latin typeface="Georgia"/>
              </a:rPr>
              <a:t>Full production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81728" y="3300984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3209544"/>
            <a:ext cx="2807208" cy="342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Beat planning, GPS check-in, route </a:t>
            </a:r>
            <a:r>
              <a:rPr sz="1100" b="0" i="0" dirty="0" err="1">
                <a:solidFill>
                  <a:srgbClr val="20242B"/>
                </a:solidFill>
                <a:latin typeface="Calibri"/>
              </a:rPr>
              <a:t>optimisation</a:t>
            </a:r>
            <a:r>
              <a:rPr lang="en-IN" sz="1100" b="0" i="0" dirty="0">
                <a:solidFill>
                  <a:srgbClr val="20242B"/>
                </a:solidFill>
                <a:latin typeface="Calibri"/>
              </a:rPr>
              <a:t>, </a:t>
            </a:r>
            <a:r>
              <a:rPr lang="en-IN" sz="1100" b="0" i="0" dirty="0" err="1">
                <a:solidFill>
                  <a:srgbClr val="20242B"/>
                </a:solidFill>
                <a:latin typeface="Calibri"/>
              </a:rPr>
              <a:t>sadvanced</a:t>
            </a:r>
            <a:r>
              <a:rPr lang="en-IN" sz="1100" b="0" i="0" dirty="0">
                <a:solidFill>
                  <a:srgbClr val="20242B"/>
                </a:solidFill>
                <a:latin typeface="Calibri"/>
              </a:rPr>
              <a:t> security (PII , etc.)</a:t>
            </a:r>
            <a:endParaRPr sz="1100" b="0" i="0" dirty="0">
              <a:solidFill>
                <a:srgbClr val="20242B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81728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92040" y="36667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Scheme engine + retailer ledger + credit control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81728" y="42153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892040" y="41239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Geo-tagged </a:t>
            </a:r>
            <a:r>
              <a:rPr sz="1100" b="0" i="0" dirty="0" err="1">
                <a:solidFill>
                  <a:srgbClr val="20242B"/>
                </a:solidFill>
                <a:latin typeface="Calibri"/>
              </a:rPr>
              <a:t>PoD</a:t>
            </a:r>
            <a:r>
              <a:rPr sz="1100" b="0" i="0" dirty="0">
                <a:solidFill>
                  <a:srgbClr val="20242B"/>
                </a:solidFill>
                <a:latin typeface="Calibri"/>
              </a:rPr>
              <a:t> + sales-to-van fulfilment flow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81728" y="46725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92040" y="45811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Targets, expense/KM, advanced DSR + alerts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81728" y="51297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892040" y="5038344"/>
            <a:ext cx="2807208" cy="3424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Damaged goods / RTV + data migration</a:t>
            </a:r>
            <a:endParaRPr lang="en-IN" sz="1100" b="0" i="0" dirty="0">
              <a:solidFill>
                <a:srgbClr val="20242B"/>
              </a:solidFill>
              <a:latin typeface="Calibri"/>
            </a:endParaRPr>
          </a:p>
          <a:p>
            <a:pPr algn="l">
              <a:lnSpc>
                <a:spcPct val="103000"/>
              </a:lnSpc>
              <a:spcAft>
                <a:spcPts val="0"/>
              </a:spcAft>
            </a:pPr>
            <a:endParaRPr sz="1100" b="0" i="0" dirty="0">
              <a:solidFill>
                <a:srgbClr val="20242B"/>
              </a:solidFill>
              <a:latin typeface="Calibri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138159" y="1965960"/>
            <a:ext cx="3584448" cy="3977639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59" y="1965960"/>
            <a:ext cx="3584448" cy="566928"/>
          </a:xfrm>
          <a:prstGeom prst="rect">
            <a:avLst/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2084831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 spc="100" dirty="0">
                <a:solidFill>
                  <a:srgbClr val="FFFFFF"/>
                </a:solidFill>
                <a:latin typeface="Calibri"/>
              </a:rPr>
              <a:t>PHASE 3   </a:t>
            </a:r>
            <a:r>
              <a:rPr sz="1100" b="0" i="0" dirty="0">
                <a:solidFill>
                  <a:srgbClr val="FFFFFF"/>
                </a:solidFill>
                <a:latin typeface="Calibri"/>
              </a:rPr>
              <a:t>Optional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2697480"/>
            <a:ext cx="3127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0242B"/>
                </a:solidFill>
                <a:latin typeface="Georgia"/>
              </a:rPr>
              <a:t>Scale &amp; integrations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30767" y="3300984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641080" y="3209544"/>
            <a:ext cx="2807208" cy="1680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 dirty="0">
                <a:solidFill>
                  <a:srgbClr val="20242B"/>
                </a:solidFill>
                <a:latin typeface="Calibri"/>
              </a:rPr>
              <a:t>IRN e-invoice (at ₹5 Cr) + Tally export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30767" y="37581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641080" y="36667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Retailer self-order portal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430767" y="42153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641080" y="41239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Performance / load hardening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430767" y="46725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641080" y="45811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iOS native + app-store launch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430767" y="5129783"/>
            <a:ext cx="82296" cy="82296"/>
          </a:xfrm>
          <a:prstGeom prst="roundRect">
            <a:avLst>
              <a:gd name="adj" fmla="val 50000"/>
            </a:avLst>
          </a:prstGeom>
          <a:solidFill>
            <a:srgbClr val="C08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41080" y="5038344"/>
            <a:ext cx="280720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100" b="0" i="0">
                <a:solidFill>
                  <a:srgbClr val="20242B"/>
                </a:solidFill>
                <a:latin typeface="Calibri"/>
              </a:rPr>
              <a:t>Multi-distributor expansion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Transparent pricing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you own your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4114800" cy="3291840"/>
          </a:xfrm>
          <a:prstGeom prst="roundRect">
            <a:avLst>
              <a:gd name="adj" fmla="val 3000"/>
            </a:avLst>
          </a:prstGeom>
          <a:solidFill>
            <a:srgbClr val="12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50976" y="2084832"/>
            <a:ext cx="3566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E1232B"/>
                </a:solidFill>
                <a:latin typeface="Calibri"/>
              </a:rPr>
              <a:t>ONE-TIME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 i="0">
                <a:solidFill>
                  <a:srgbClr val="F3F1EE"/>
                </a:solidFill>
                <a:latin typeface="Georgia"/>
              </a:rPr>
              <a:t>₹ 7.5 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3127248"/>
            <a:ext cx="3566160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 dirty="0">
                <a:solidFill>
                  <a:srgbClr val="9AA1AB"/>
                </a:solidFill>
                <a:latin typeface="Calibri"/>
              </a:rPr>
              <a:t>Phase 1 MVP ₹3.5L</a:t>
            </a:r>
            <a:r>
              <a:rPr lang="en-IN" sz="1150" b="0" i="0" dirty="0">
                <a:solidFill>
                  <a:srgbClr val="9AA1AB"/>
                </a:solidFill>
                <a:latin typeface="Calibri"/>
              </a:rPr>
              <a:t>(2L advance+1.5L delivery)</a:t>
            </a:r>
            <a:r>
              <a:rPr sz="1150" b="0" i="0" dirty="0">
                <a:solidFill>
                  <a:srgbClr val="9AA1AB"/>
                </a:solidFill>
                <a:latin typeface="Calibri"/>
              </a:rPr>
              <a:t>  +  Phase 2 Production ₹4L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93192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392277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White-label branding + your isolated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2976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428853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Configuration, data migration &amp; training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46634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07007" y="4654296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3F1EE"/>
                </a:solidFill>
                <a:latin typeface="Calibri"/>
              </a:rPr>
              <a:t>Free support for 60 days after go-live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828800"/>
            <a:ext cx="3063240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2084832"/>
            <a:ext cx="2514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33414F"/>
                </a:solidFill>
                <a:latin typeface="Calibri"/>
              </a:rPr>
              <a:t>MAINTENANCE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95728"/>
            <a:ext cx="2606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20242B"/>
                </a:solidFill>
                <a:latin typeface="Georgia"/>
              </a:rPr>
              <a:t>₹ 12K</a:t>
            </a:r>
            <a:r>
              <a:rPr sz="1600" b="0" i="0">
                <a:solidFill>
                  <a:srgbClr val="6B7077"/>
                </a:solidFill>
                <a:latin typeface="Calibri"/>
              </a:rPr>
              <a:t>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76088" y="3072384"/>
            <a:ext cx="2514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 dirty="0">
                <a:solidFill>
                  <a:srgbClr val="6B7077"/>
                </a:solidFill>
                <a:latin typeface="Calibri"/>
              </a:rPr>
              <a:t>First 60 days free, then monthly. Annual prepay ₹1.2L (2 months free).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76088" y="3822191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0" y="37307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Bug fixes &amp; security patches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76088" y="4187952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0" y="409651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Updates + minor changes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276088" y="4553712"/>
            <a:ext cx="82296" cy="82296"/>
          </a:xfrm>
          <a:prstGeom prst="roundRect">
            <a:avLst>
              <a:gd name="adj" fmla="val 50000"/>
            </a:avLst>
          </a:prstGeom>
          <a:solidFill>
            <a:srgbClr val="3341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0" y="446227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Priority support SLA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18189" y="1783080"/>
            <a:ext cx="3310128" cy="32918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22208" y="2084832"/>
            <a:ext cx="2761488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40">
                <a:solidFill>
                  <a:srgbClr val="C08318"/>
                </a:solidFill>
                <a:latin typeface="Calibri"/>
              </a:rPr>
              <a:t>OPTIONAL ADD-ONS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2542032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IRN e-invoicing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88168" y="2542032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8318"/>
                </a:solidFill>
                <a:latin typeface="Calibri"/>
              </a:rPr>
              <a:t>₹75K–1L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22208" y="3017520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Tally integration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88168" y="3017520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8318"/>
                </a:solidFill>
                <a:latin typeface="Calibri"/>
              </a:rPr>
              <a:t>₹50–75K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22208" y="3493008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Retailer self-order portal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88168" y="349300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>
                <a:solidFill>
                  <a:srgbClr val="C08318"/>
                </a:solidFill>
                <a:latin typeface="Calibri"/>
              </a:rPr>
              <a:t>₹1.25L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2212848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IN" sz="1150" b="0" i="0" dirty="0">
                <a:solidFill>
                  <a:srgbClr val="20242B"/>
                </a:solidFill>
                <a:latin typeface="Calibri"/>
              </a:rPr>
              <a:t>Complete ERP system </a:t>
            </a:r>
            <a:endParaRPr sz="1150" b="0" i="0" dirty="0">
              <a:solidFill>
                <a:srgbClr val="20242B"/>
              </a:solidFill>
              <a:latin typeface="Calibr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0488168" y="3968496"/>
            <a:ext cx="9144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 dirty="0">
                <a:solidFill>
                  <a:srgbClr val="C08318"/>
                </a:solidFill>
                <a:latin typeface="Calibri"/>
              </a:rPr>
              <a:t>₹</a:t>
            </a:r>
            <a:r>
              <a:rPr lang="en-IN" sz="1150" b="1" i="0" dirty="0">
                <a:solidFill>
                  <a:srgbClr val="C08318"/>
                </a:solidFill>
                <a:latin typeface="Calibri"/>
              </a:rPr>
              <a:t>1.5</a:t>
            </a:r>
            <a:r>
              <a:rPr lang="en-IN" sz="1150" b="1" dirty="0">
                <a:solidFill>
                  <a:srgbClr val="C08318"/>
                </a:solidFill>
                <a:latin typeface="Calibri"/>
              </a:rPr>
              <a:t>L</a:t>
            </a:r>
            <a:endParaRPr sz="1150" b="1" i="0" dirty="0">
              <a:solidFill>
                <a:srgbClr val="C08318"/>
              </a:solidFill>
              <a:latin typeface="Calibr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22208" y="4443983"/>
            <a:ext cx="2212848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20242B"/>
                </a:solidFill>
                <a:latin typeface="Calibri"/>
              </a:rPr>
              <a:t>iOS native + app store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88168" y="4443983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1" i="0" dirty="0">
                <a:solidFill>
                  <a:srgbClr val="C08318"/>
                </a:solidFill>
                <a:latin typeface="Calibri"/>
              </a:rPr>
              <a:t>₹50–75K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5303520"/>
            <a:ext cx="10899648" cy="777240"/>
          </a:xfrm>
          <a:prstGeom prst="roundRect">
            <a:avLst>
              <a:gd name="adj" fmla="val 5000"/>
            </a:avLst>
          </a:prstGeom>
          <a:solidFill>
            <a:srgbClr val="A8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88136" y="5596203"/>
            <a:ext cx="10424160" cy="20101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250" b="0" i="0" dirty="0">
                <a:solidFill>
                  <a:srgbClr val="FFFFFF"/>
                </a:solidFill>
                <a:latin typeface="Calibri"/>
              </a:rPr>
              <a:t>Same field power </a:t>
            </a:r>
            <a:r>
              <a:rPr sz="1250" b="1" i="0" dirty="0">
                <a:solidFill>
                  <a:srgbClr val="FFFFFF"/>
                </a:solidFill>
                <a:latin typeface="Calibri"/>
              </a:rPr>
              <a:t>(₹700–1,700/user/</a:t>
            </a:r>
            <a:r>
              <a:rPr sz="1250" b="1" i="0" dirty="0" err="1">
                <a:solidFill>
                  <a:srgbClr val="FFFFFF"/>
                </a:solidFill>
                <a:latin typeface="Calibri"/>
              </a:rPr>
              <a:t>mo</a:t>
            </a:r>
            <a:r>
              <a:rPr sz="1250" b="1" i="0" dirty="0">
                <a:solidFill>
                  <a:srgbClr val="FFFFFF"/>
                </a:solidFill>
                <a:latin typeface="Calibri"/>
              </a:rPr>
              <a:t>)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 and a from-scratch build (₹25–50L, 6–9 months) </a:t>
            </a:r>
            <a:r>
              <a:rPr lang="en-IN" sz="1250" b="0" i="0" dirty="0">
                <a:solidFill>
                  <a:srgbClr val="FFFFFF"/>
                </a:solidFill>
                <a:latin typeface="Calibri"/>
              </a:rPr>
              <a:t>-</a:t>
            </a:r>
            <a:r>
              <a:rPr sz="1250" b="0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250" b="1" i="0" dirty="0">
                <a:solidFill>
                  <a:srgbClr val="FFFFFF"/>
                </a:solidFill>
                <a:latin typeface="Calibri"/>
              </a:rPr>
              <a:t>at a fraction, in weeks.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E1232B"/>
                </a:solidFill>
                <a:latin typeface="Calibri"/>
              </a:rPr>
              <a:t>WHAT WE'LL CONFIRM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698480" cy="4422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 dirty="0">
                <a:solidFill>
                  <a:srgbClr val="20242B"/>
                </a:solidFill>
                <a:latin typeface="Georgia"/>
              </a:rPr>
              <a:t>A few things we'll lock </a:t>
            </a:r>
            <a:r>
              <a:rPr lang="en-IN" sz="3000" b="1" i="0" dirty="0">
                <a:solidFill>
                  <a:srgbClr val="20242B"/>
                </a:solidFill>
                <a:latin typeface="Georgia"/>
              </a:rPr>
              <a:t>-</a:t>
            </a:r>
            <a:r>
              <a:rPr sz="3000" b="1" i="0" dirty="0">
                <a:solidFill>
                  <a:srgbClr val="20242B"/>
                </a:solidFill>
                <a:latin typeface="Georgia"/>
              </a:rPr>
              <a:t> so the price is exact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94960" cy="40690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7E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139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20">
                <a:solidFill>
                  <a:srgbClr val="33414F"/>
                </a:solidFill>
                <a:latin typeface="Calibri"/>
              </a:rPr>
              <a:t>QUESTIONS WE'LL ANSWER WITH YOU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32688" y="2596896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33856" y="251460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Van sales off ready stock, or pre-sell then deliver?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2688" y="3072384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33856" y="2990088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Returnable glass bottles / crate deposits in play?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3547872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33856" y="3465576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How many SKUs, vans, reps, outlets today?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" y="4023359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33856" y="3941063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Your schemes &amp; price-list rules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" y="4498847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33856" y="4416551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Credit terms &amp; limits per retailer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" y="4974335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33856" y="4892039"/>
            <a:ext cx="4754880" cy="1819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 dirty="0">
                <a:solidFill>
                  <a:srgbClr val="20242B"/>
                </a:solidFill>
                <a:latin typeface="Calibri"/>
              </a:rPr>
              <a:t>Annual turnover </a:t>
            </a:r>
            <a:r>
              <a:rPr lang="en-IN" sz="1200" b="0" i="0" dirty="0">
                <a:solidFill>
                  <a:srgbClr val="20242B"/>
                </a:solidFill>
                <a:latin typeface="Calibri"/>
              </a:rPr>
              <a:t>-</a:t>
            </a:r>
            <a:r>
              <a:rPr sz="1200" b="0" i="0" dirty="0">
                <a:solidFill>
                  <a:srgbClr val="20242B"/>
                </a:solidFill>
                <a:latin typeface="Calibri"/>
              </a:rPr>
              <a:t> does IRN apply yet?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" y="5449823"/>
            <a:ext cx="91440" cy="91440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33856" y="5367527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1200" b="0" i="0">
                <a:solidFill>
                  <a:srgbClr val="20242B"/>
                </a:solidFill>
                <a:latin typeface="Calibri"/>
              </a:rPr>
              <a:t>Tally / accounting integration needed?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874519"/>
            <a:ext cx="5394960" cy="4069080"/>
          </a:xfrm>
          <a:prstGeom prst="roundRect">
            <a:avLst>
              <a:gd name="adj" fmla="val 3000"/>
            </a:avLst>
          </a:prstGeom>
          <a:solidFill>
            <a:srgbClr val="121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37376" y="2139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 spc="120">
                <a:solidFill>
                  <a:srgbClr val="E1232B"/>
                </a:solidFill>
                <a:latin typeface="Calibri"/>
              </a:rPr>
              <a:t>BRING TO OUR NEXT SESSION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257860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1696" y="2560320"/>
            <a:ext cx="45720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 dirty="0">
                <a:solidFill>
                  <a:srgbClr val="F3F1EE"/>
                </a:solidFill>
                <a:latin typeface="Calibri"/>
              </a:rPr>
              <a:t>Current Excel files  </a:t>
            </a:r>
            <a:r>
              <a:rPr sz="1050" b="0" i="0" dirty="0">
                <a:solidFill>
                  <a:srgbClr val="9AA1AB"/>
                </a:solidFill>
                <a:latin typeface="Calibri"/>
              </a:rPr>
              <a:t>inventory, loading, ledger </a:t>
            </a:r>
            <a:r>
              <a:rPr lang="en-IN" sz="105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050" b="0" i="0" dirty="0">
                <a:solidFill>
                  <a:srgbClr val="9AA1AB"/>
                </a:solidFill>
                <a:latin typeface="Calibri"/>
              </a:rPr>
              <a:t> for 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37376" y="3218687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1696" y="3200399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Sample invoice / challan  </a:t>
            </a:r>
            <a:r>
              <a:rPr sz="1050" b="0" i="0">
                <a:solidFill>
                  <a:srgbClr val="9AA1AB"/>
                </a:solidFill>
                <a:latin typeface="Calibri"/>
              </a:rPr>
              <a:t>exact GST fields, HSN, company header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385876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384048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SKU list  </a:t>
            </a:r>
            <a:r>
              <a:rPr sz="1050" b="0" i="0">
                <a:solidFill>
                  <a:srgbClr val="9AA1AB"/>
                </a:solidFill>
                <a:latin typeface="Calibri"/>
              </a:rPr>
              <a:t>sizes, MRP, GST slab per 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49884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11696" y="448056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Retailer master  </a:t>
            </a:r>
            <a:r>
              <a:rPr sz="1050" b="0" i="0">
                <a:solidFill>
                  <a:srgbClr val="9AA1AB"/>
                </a:solidFill>
                <a:latin typeface="Calibri"/>
              </a:rPr>
              <a:t>names, addresses, GST, beats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37376" y="51389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 i="0">
                <a:solidFill>
                  <a:srgbClr val="E1232B"/>
                </a:solidFill>
                <a:latin typeface="Calibri"/>
              </a:rPr>
              <a:t>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11696" y="512064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250" b="1" i="0">
                <a:solidFill>
                  <a:srgbClr val="F3F1EE"/>
                </a:solidFill>
                <a:latin typeface="Calibri"/>
              </a:rPr>
              <a:t>GSTIN + brand assets  </a:t>
            </a:r>
            <a:r>
              <a:rPr sz="1050" b="0" i="0">
                <a:solidFill>
                  <a:srgbClr val="9AA1AB"/>
                </a:solidFill>
                <a:latin typeface="Calibri"/>
              </a:rPr>
              <a:t>logo, colours for white-labelling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37376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6B7077"/>
                </a:solidFill>
                <a:latin typeface="Calibri"/>
              </a:rPr>
              <a:t>Campa Distribution Management System  ·  Proposal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 i="0">
                <a:solidFill>
                  <a:srgbClr val="E1232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3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A81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548640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 spc="220">
                <a:solidFill>
                  <a:srgbClr val="9AA1AB"/>
                </a:solidFill>
                <a:latin typeface="Calibri"/>
              </a:rPr>
              <a:t>BEYOND YOUR OPERATION  ·  OPTIONAL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143000"/>
            <a:ext cx="10515600" cy="5012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400" b="1" i="0" dirty="0">
                <a:solidFill>
                  <a:srgbClr val="F3F1EE"/>
                </a:solidFill>
                <a:latin typeface="Georgia"/>
              </a:rPr>
              <a:t>Build it once </a:t>
            </a:r>
            <a:r>
              <a:rPr lang="en-IN" sz="3400" b="1" i="0" dirty="0">
                <a:solidFill>
                  <a:srgbClr val="F3F1EE"/>
                </a:solidFill>
                <a:latin typeface="Georgia"/>
              </a:rPr>
              <a:t>-</a:t>
            </a:r>
            <a:r>
              <a:rPr sz="3400" b="1" i="0" dirty="0">
                <a:solidFill>
                  <a:srgbClr val="F3F1EE"/>
                </a:solidFill>
                <a:latin typeface="Georgia"/>
              </a:rPr>
              <a:t> then offer it to your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 dirty="0">
                <a:solidFill>
                  <a:srgbClr val="9AA1AB"/>
                </a:solidFill>
                <a:latin typeface="Calibri"/>
              </a:rPr>
              <a:t>A separate, optional track </a:t>
            </a:r>
            <a:r>
              <a:rPr lang="en-IN" sz="1400" b="0" i="1" dirty="0">
                <a:solidFill>
                  <a:srgbClr val="9AA1AB"/>
                </a:solidFill>
                <a:latin typeface="Calibri"/>
              </a:rPr>
              <a:t>-</a:t>
            </a:r>
            <a:r>
              <a:rPr sz="1400" b="0" i="1" dirty="0">
                <a:solidFill>
                  <a:srgbClr val="9AA1AB"/>
                </a:solidFill>
                <a:latin typeface="Calibri"/>
              </a:rPr>
              <a:t> only if and when you want it. Your project comes first.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926080"/>
            <a:ext cx="3520440" cy="2468880"/>
          </a:xfrm>
          <a:prstGeom prst="roundRect">
            <a:avLst>
              <a:gd name="adj" fmla="val 4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2688" y="321868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2688" y="321868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38862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1EE"/>
                </a:solidFill>
                <a:latin typeface="Georgia"/>
              </a:rPr>
              <a:t>You already own the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4498848"/>
            <a:ext cx="2971800" cy="55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 dirty="0">
                <a:solidFill>
                  <a:srgbClr val="9AA1AB"/>
                </a:solidFill>
                <a:latin typeface="Calibri"/>
              </a:rPr>
              <a:t>The hardest part of any software business </a:t>
            </a:r>
            <a:r>
              <a:rPr lang="en-IN" sz="110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9AA1AB"/>
                </a:solidFill>
                <a:latin typeface="Calibri"/>
              </a:rPr>
              <a:t> distribution </a:t>
            </a:r>
            <a:r>
              <a:rPr lang="en-IN" sz="110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9AA1AB"/>
                </a:solidFill>
                <a:latin typeface="Calibri"/>
              </a:rPr>
              <a:t> you already have. Other Campa &amp; FMCG distributors face the same Excel problem.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2926080"/>
            <a:ext cx="3520440" cy="2468880"/>
          </a:xfrm>
          <a:prstGeom prst="roundRect">
            <a:avLst>
              <a:gd name="adj" fmla="val 4000"/>
            </a:avLst>
          </a:prstGeom>
          <a:solidFill>
            <a:srgbClr val="1C1F26"/>
          </a:solidFill>
          <a:ln w="15875">
            <a:solidFill>
              <a:srgbClr val="E123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617720" y="321868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321868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8862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1EE"/>
                </a:solidFill>
                <a:latin typeface="Georgia"/>
              </a:rPr>
              <a:t>Two ways to benefit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4498848"/>
            <a:ext cx="2971800" cy="5586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 dirty="0">
                <a:solidFill>
                  <a:srgbClr val="9AA1AB"/>
                </a:solidFill>
                <a:latin typeface="Calibri"/>
              </a:rPr>
              <a:t>Earn a referral margin on every distributor you introduce </a:t>
            </a:r>
            <a:r>
              <a:rPr lang="en-IN" sz="1100" b="0" i="0" dirty="0">
                <a:solidFill>
                  <a:srgbClr val="9AA1AB"/>
                </a:solidFill>
                <a:latin typeface="Calibri"/>
              </a:rPr>
              <a:t>-</a:t>
            </a:r>
            <a:r>
              <a:rPr sz="1100" b="0" i="0" dirty="0">
                <a:solidFill>
                  <a:srgbClr val="9AA1AB"/>
                </a:solidFill>
                <a:latin typeface="Calibri"/>
              </a:rPr>
              <a:t> or co-own a </a:t>
            </a:r>
            <a:r>
              <a:rPr sz="1100" b="0" i="0" dirty="0" err="1">
                <a:solidFill>
                  <a:srgbClr val="9AA1AB"/>
                </a:solidFill>
                <a:latin typeface="Calibri"/>
              </a:rPr>
              <a:t>productised</a:t>
            </a:r>
            <a:r>
              <a:rPr sz="1100" b="0" i="0" dirty="0">
                <a:solidFill>
                  <a:srgbClr val="9AA1AB"/>
                </a:solidFill>
                <a:latin typeface="Calibri"/>
              </a:rPr>
              <a:t> platform with us as a partner.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926080"/>
            <a:ext cx="3520440" cy="2468880"/>
          </a:xfrm>
          <a:prstGeom prst="roundRect">
            <a:avLst>
              <a:gd name="adj" fmla="val 4000"/>
            </a:avLst>
          </a:prstGeom>
          <a:solidFill>
            <a:srgbClr val="1C1F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302752" y="3218688"/>
            <a:ext cx="493776" cy="493776"/>
          </a:xfrm>
          <a:prstGeom prst="roundRect">
            <a:avLst>
              <a:gd name="adj" fmla="val 50000"/>
            </a:avLst>
          </a:prstGeom>
          <a:solidFill>
            <a:srgbClr val="E123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02752" y="3218688"/>
            <a:ext cx="493776" cy="49377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886200"/>
            <a:ext cx="29718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3F1EE"/>
                </a:solidFill>
                <a:latin typeface="Georgia"/>
              </a:rPr>
              <a:t>Proven by your own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98848"/>
            <a:ext cx="2971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100" b="0" i="0">
                <a:solidFill>
                  <a:srgbClr val="9AA1AB"/>
                </a:solidFill>
                <a:latin typeface="Calibri"/>
              </a:rPr>
              <a:t>Your live operation becomes the demo. Nothing to build twice; we extend what's already running for you.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6692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1AB"/>
                </a:solidFill>
                <a:latin typeface="Calibri"/>
              </a:rPr>
              <a:t>We'll explore this properly once your system is live and proving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1604</Words>
  <Application>Microsoft Office PowerPoint</Application>
  <PresentationFormat>Widescreen</PresentationFormat>
  <Paragraphs>298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AMAN NAMA</cp:lastModifiedBy>
  <cp:revision>3</cp:revision>
  <dcterms:created xsi:type="dcterms:W3CDTF">2013-01-27T09:14:16Z</dcterms:created>
  <dcterms:modified xsi:type="dcterms:W3CDTF">2026-06-12T15:54:01Z</dcterms:modified>
  <cp:category/>
</cp:coreProperties>
</file>